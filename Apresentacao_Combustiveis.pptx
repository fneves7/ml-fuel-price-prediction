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Projeto de aprendizagem supervisionada aplicado a um tema do dia a dia: o preço dos combustíveis. A pergunta central é se conseguimos prever a subida ou descida do preço.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objetivo é demonstrar como a IA se aplica a uma situação real. Escolhemos classificação (sobe/desce) e também regressão.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dataset original só dizia O QUE aconteceu. Juntámos as variáveis que explicam PORQUÊ: petróleo, câmbio, impostos e calendário. Também limpámos dados sujos.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Dentro de cada combustível a correlação com o Brent em euros é forte (0,72 a 0,91). Os grandes choques aparecem claramente.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Decompusemos o preço em matéria-prima, ISP e IVA. Metade do preço da gasolina são impostos. O corte do ISP de 2022 vê-se bem.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Random Forest acerta 79% e o gradient boosting 82%, contra 61% do acaso. As variáveis que mais pesam são o dia da semana, a variação recente e o Brent.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Lição central: o R² de 0,999 na previsão do valor é trivial (o preço quase não muda de um dia para o outro). Quando prevemos a variação, o modelo bate mesmo o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Comparámos XGBoost e LightGBM com a Random Forest. Cada um ganha numa tarefa diferente — não existe um vencedor universal.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cobrir a amplitude da aprendizagem supervisionada, implementámos os 19 algoritmos dos meta-prompts em 4 famílias. O gradient boosting é o melhor para prever a direção.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Validámos em 5 janelas temporais: o resultado mantém-se ~0,79. A afinação não melhorou o holdout — mostra rigor.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 à pergunta: sim, prevemos a direção com utilidade. O valor exato não compensa, mas a variação sim. O enriquecimento foi decisivo.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Obrigado. Fontes oficiais (DGEG, FRED, Diário da República) e as ferramentas pedidas no enunciado.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3931920"/>
            <a:ext cx="4754880" cy="4754880"/>
          </a:xfrm>
          <a:prstGeom prst="ellipse">
            <a:avLst/>
          </a:prstGeom>
          <a:solidFill>
            <a:srgbClr val="0E5A75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5120640"/>
            <a:ext cx="2926080" cy="2926080"/>
          </a:xfrm>
          <a:prstGeom prst="ellipse">
            <a:avLst/>
          </a:prstGeom>
          <a:solidFill>
            <a:srgbClr val="F2A104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— FUNDAMENTOS DE INTELIGÊNCIA ARTIFICIAL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Prever os preços dos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combustíveis em Portugal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94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“Conseguimos prever se o preço de um combustível sobe ou desce?”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Neves</a:t>
            </a:r>
            <a:pPr indent="0" marL="0">
              <a:buNone/>
            </a:pPr>
            <a:r>
              <a:rPr lang="en-US" sz="1500" dirty="0">
                <a:solidFill>
                  <a:srgbClr val="9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Setembro de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uma pergunta simples a um problema de 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852160" cy="2011680"/>
          </a:xfrm>
          <a:prstGeom prst="roundRect">
            <a:avLst>
              <a:gd name="adj" fmla="val 3636"/>
            </a:avLst>
          </a:prstGeom>
          <a:solidFill>
            <a:srgbClr val="F4F7F8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5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Conseguimos prever o aumento ou a descida do preço de um tipo de combustível num determinado dia?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40156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de investigação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766560" y="1920240"/>
            <a:ext cx="155448" cy="155448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059168" y="1819656"/>
            <a:ext cx="4645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próximo do dia a dia:  </a:t>
            </a:r>
            <a:pPr indent="0" marL="0">
              <a:buNone/>
            </a:pPr>
            <a:r>
              <a:rPr lang="en-US" sz="1400" dirty="0">
                <a:solidFill>
                  <a:srgbClr val="5C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preço que todos pagamos ao abastecer.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66560" y="2651760"/>
            <a:ext cx="155448" cy="155448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059168" y="2551176"/>
            <a:ext cx="4645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Aprendizagem supervisionada:  </a:t>
            </a:r>
            <a:pPr indent="0" marL="0">
              <a:buNone/>
            </a:pPr>
            <a:r>
              <a:rPr lang="en-US" sz="1400" dirty="0">
                <a:solidFill>
                  <a:srgbClr val="5C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(sobe/desce) e regressão.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66560" y="3383280"/>
            <a:ext cx="155448" cy="155448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9168" y="3282696"/>
            <a:ext cx="4645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Python:  </a:t>
            </a:r>
            <a:pPr indent="0" marL="0">
              <a:buNone/>
            </a:pPr>
            <a:r>
              <a:rPr lang="en-US" sz="1400" dirty="0">
                <a:solidFill>
                  <a:srgbClr val="5C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scikit-learn · matplotlib · seaborn.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754880"/>
            <a:ext cx="11064240" cy="822960"/>
          </a:xfrm>
          <a:prstGeom prst="rect">
            <a:avLst/>
          </a:prstGeom>
          <a:solidFill>
            <a:srgbClr val="F4F7F8"/>
          </a:solidFill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aplicados:  Inteligência Artificial  ·  Machine Learning  ·  Aprendizagem supervisionada  ·  Avaliação de modelos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E ENRIQUECIMENTO DO DATASET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dados brutos aos dados que explicam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1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45 188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505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registos diários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7373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5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24505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combustíveis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004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5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2008–2026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9136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cobertura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32004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1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→ 47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9136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(após enriquecer)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base: DGEG — preço médio diário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0" y="169164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F4F7F8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2084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JUNTÁMOS — E PORQUÊ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20840" y="2423160"/>
            <a:ext cx="155448" cy="155448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013448" y="2322576"/>
            <a:ext cx="4462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Petróleo Brent (€):  </a:t>
            </a:r>
            <a:pPr indent="0" marL="0">
              <a:buNone/>
            </a:pPr>
            <a:r>
              <a:rPr lang="en-US" sz="1400" dirty="0">
                <a:solidFill>
                  <a:srgbClr val="5C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principal driver internacional.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20840" y="3017520"/>
            <a:ext cx="155448" cy="155448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13448" y="2916936"/>
            <a:ext cx="4462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Câmbio EUR/USD:  </a:t>
            </a:r>
            <a:pPr indent="0" marL="0">
              <a:buNone/>
            </a:pPr>
            <a:r>
              <a:rPr lang="en-US" sz="1400" dirty="0">
                <a:solidFill>
                  <a:srgbClr val="5C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petróleo é cotado em dólares.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20840" y="3611880"/>
            <a:ext cx="155448" cy="155448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013448" y="3511296"/>
            <a:ext cx="4462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 + IVA:  </a:t>
            </a:r>
            <a:pPr indent="0" marL="0">
              <a:buNone/>
            </a:pPr>
            <a:r>
              <a:rPr lang="en-US" sz="1400" dirty="0">
                <a:solidFill>
                  <a:srgbClr val="5C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metade do preço são impostos.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20840" y="4206240"/>
            <a:ext cx="155448" cy="155448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013448" y="4105656"/>
            <a:ext cx="4462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+ feriados:  </a:t>
            </a:r>
            <a:pPr indent="0" marL="0">
              <a:buNone/>
            </a:pPr>
            <a:r>
              <a:rPr lang="en-US" sz="1400" dirty="0">
                <a:solidFill>
                  <a:srgbClr val="5C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sazonalidade e dias sem atualização.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720840" y="4800600"/>
            <a:ext cx="155448" cy="155448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013448" y="4700016"/>
            <a:ext cx="4462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Limpeza:  </a:t>
            </a:r>
            <a:pPr indent="0" marL="0">
              <a:buNone/>
            </a:pPr>
            <a:r>
              <a:rPr lang="en-US" sz="1400" dirty="0">
                <a:solidFill>
                  <a:srgbClr val="5C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 zeros e 5 outliers tratados; encoding corrigido.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DOS DADOS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preço segue o petróleo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046720" cy="4215618"/>
          </a:xfrm>
          <a:prstGeom prst="roundRect">
            <a:avLst>
              <a:gd name="adj" fmla="val 1518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  <a:effectLst>
            <a:outerShdw sx="100000" sy="100000" kx="0" ky="0" algn="bl" rotWithShape="0" blurRad="114300" dist="38100" dir="5400000">
              <a:srgbClr val="7C949C">
                <a:alpha val="35000"/>
              </a:srgbClr>
            </a:outerShdw>
          </a:effectLst>
        </p:spPr>
      </p:sp>
      <p:pic>
        <p:nvPicPr>
          <p:cNvPr id="5" name="Image 0" descr="C:/Users/francisconeves/Documents/GitHub/ml-fuel-price-prediction/figuras/02_preco_vs_b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7863840" cy="40327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869680" y="219456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2A1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0,72 – 0,91
</a:t>
            </a:r>
            <a:pPr indent="0" marL="0">
              <a:buNone/>
            </a:pPr>
            <a:r>
              <a:rPr lang="en-US" sz="1400" dirty="0">
                <a:solidFill>
                  <a:srgbClr val="5C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preço ↔ Brent (€),</a:t>
            </a:r>
            <a:endParaRPr lang="en-US" sz="3400" dirty="0"/>
          </a:p>
          <a:p>
            <a:pPr indent="0" marL="0">
              <a:buNone/>
            </a:pPr>
            <a:r>
              <a:rPr lang="en-US" sz="1400" dirty="0">
                <a:solidFill>
                  <a:srgbClr val="5C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combustível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869680" y="384048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Vê-se o crash de 2020 (COVID) e o pico de 2022 (guerra na Ucrânia) refletidos no preço à bomba.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DOS DADOS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 que pagamos são impostos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863840" cy="4622741"/>
          </a:xfrm>
          <a:prstGeom prst="roundRect">
            <a:avLst>
              <a:gd name="adj" fmla="val 1385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  <a:effectLst>
            <a:outerShdw sx="100000" sy="100000" kx="0" ky="0" algn="bl" rotWithShape="0" blurRad="114300" dist="38100" dir="5400000">
              <a:srgbClr val="7C949C">
                <a:alpha val="35000"/>
              </a:srgbClr>
            </a:outerShdw>
          </a:effectLst>
        </p:spPr>
      </p:sp>
      <p:pic>
        <p:nvPicPr>
          <p:cNvPr id="5" name="Image 0" descr="C:/Users/francisconeves/Documents/GitHub/ml-fuel-price-prediction/figuras/11_decomposicao_impos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7680960" cy="443986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0" y="21031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2A1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51%
</a:t>
            </a:r>
            <a:pPr indent="0" marL="0">
              <a:buNone/>
            </a:pPr>
            <a:r>
              <a:rPr lang="en-US" sz="1400" dirty="0">
                <a:solidFill>
                  <a:srgbClr val="5C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preço da gasolina</a:t>
            </a:r>
            <a:endParaRPr lang="en-US" sz="3800" dirty="0"/>
          </a:p>
          <a:p>
            <a:pPr indent="0" marL="0">
              <a:buNone/>
            </a:pPr>
            <a:r>
              <a:rPr lang="en-US" sz="1400" dirty="0">
                <a:solidFill>
                  <a:srgbClr val="5C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impostos (≈ 42% no gasóleo)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8686800" y="38862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corte do ISP em 2022 é visível na descida da faixa laranja. As taxas do ISP foram confirmadas nos PDFs oficiais do Diário da República.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E AVALIAÇÃO DO MODELO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Conseguimos prever a direção?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583680" cy="4627880"/>
          </a:xfrm>
          <a:prstGeom prst="roundRect">
            <a:avLst>
              <a:gd name="adj" fmla="val 1383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  <a:effectLst>
            <a:outerShdw sx="100000" sy="100000" kx="0" ky="0" algn="bl" rotWithShape="0" blurRad="114300" dist="38100" dir="5400000">
              <a:srgbClr val="7C949C">
                <a:alpha val="35000"/>
              </a:srgbClr>
            </a:outerShdw>
          </a:effectLst>
        </p:spPr>
      </p:sp>
      <p:pic>
        <p:nvPicPr>
          <p:cNvPr id="5" name="Image 0" descr="C:/Users/francisconeves/Documents/GitHub/ml-fuel-price-prediction/figuras/09_importancias_classifica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6400800" cy="4445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806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C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MAIS IMPORTANTES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18288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C73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25420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acaso (baseline)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30632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5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79%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37764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42976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1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82%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7589520" y="50109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LightGBM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589520" y="54406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Acerto na previsão sobe/desce a 1 dia — bem acima do acaso.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HONESTA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exato? Não. Variação e direção? Sim.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315200" cy="348488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  <a:effectLst>
            <a:outerShdw sx="100000" sy="100000" kx="0" ky="0" algn="bl" rotWithShape="0" blurRad="114300" dist="38100" dir="5400000">
              <a:srgbClr val="7C949C">
                <a:alpha val="35000"/>
              </a:srgbClr>
            </a:outerShdw>
          </a:effectLst>
        </p:spPr>
      </p:sp>
      <p:pic>
        <p:nvPicPr>
          <p:cNvPr id="5" name="Image 0" descr="C:/Users/francisconeves/Documents/GitHub/ml-fuel-price-prediction/figuras/13_regressao_del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7132320" cy="3302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138160" y="19202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0,999</a:t>
            </a:r>
            <a:pPr indent="0" marL="0">
              <a:buNone/>
            </a:pPr>
            <a:r>
              <a:rPr lang="en-US" sz="15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na previsão do valor parece ótimo, mas é </a:t>
            </a:r>
            <a:pPr indent="0" marL="0">
              <a:buNone/>
            </a:pPr>
            <a:r>
              <a:rPr lang="en-US" sz="1500" b="1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enganador</a:t>
            </a:r>
            <a:pPr indent="0" marL="0">
              <a:buNone/>
            </a:pPr>
            <a:r>
              <a:rPr lang="en-US" sz="15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“amanhã ≈ hoje”.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33832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8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a variação já compensa:
</a:t>
            </a:r>
            <a:pPr indent="0" marL="0">
              <a:buNone/>
            </a:pPr>
            <a:r>
              <a:rPr lang="en-US" sz="15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+22% melhor que o baseline e </a:t>
            </a:r>
            <a:pPr indent="0" marL="0">
              <a:buNone/>
            </a:pPr>
            <a:r>
              <a:rPr lang="en-US" sz="15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pPr indent="0" marL="0">
              <a:buNone/>
            </a:pPr>
            <a:r>
              <a:rPr lang="en-US" sz="15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acerto no sentido.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DE ALGORITMOS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há um modelo melhor para tudo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680960" cy="4088130"/>
          </a:xfrm>
          <a:prstGeom prst="roundRect">
            <a:avLst>
              <a:gd name="adj" fmla="val 1566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  <a:effectLst>
            <a:outerShdw sx="100000" sy="100000" kx="0" ky="0" algn="bl" rotWithShape="0" blurRad="114300" dist="38100" dir="5400000">
              <a:srgbClr val="7C949C">
                <a:alpha val="35000"/>
              </a:srgbClr>
            </a:outerShdw>
          </a:effectLst>
        </p:spPr>
      </p:sp>
      <p:pic>
        <p:nvPicPr>
          <p:cNvPr id="5" name="Image 0" descr="C:/Users/francisconeves/Documents/GitHub/ml-fuel-price-prediction/figuras/15_comparacao_gradient_boos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7498080" cy="3905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03920" y="2423160"/>
            <a:ext cx="155448" cy="155448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796528" y="2322576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dia:  </a:t>
            </a:r>
            <a:pPr indent="0" marL="0">
              <a:buNone/>
            </a:pPr>
            <a:r>
              <a:rPr lang="en-US" sz="1400" dirty="0">
                <a:solidFill>
                  <a:srgbClr val="5C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LightGBM ganham (0,82).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503920" y="3246120"/>
            <a:ext cx="155448" cy="155448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796528" y="3145536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Variação:  </a:t>
            </a:r>
            <a:pPr indent="0" marL="0">
              <a:buNone/>
            </a:pPr>
            <a:r>
              <a:rPr lang="en-US" sz="1400" dirty="0">
                <a:solidFill>
                  <a:srgbClr val="5C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ganha claramente.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503920" y="4069080"/>
            <a:ext cx="155448" cy="155448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796528" y="3968496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dias:  </a:t>
            </a:r>
            <a:pPr indent="0" marL="0">
              <a:buNone/>
            </a:pPr>
            <a:r>
              <a:rPr lang="en-US" sz="1400" dirty="0">
                <a:solidFill>
                  <a:srgbClr val="5C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ligeiramente melhor.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503920" y="48463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E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escolha do algoritmo deve ser guiada pela tarefa e pela avaliação — não pela moda.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DO ESTUDO · APRENDIZAGEM SUPERVISIONADA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Testámos 19 algoritmos em 4 famílias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4F7F8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842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5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Regressão · 5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3288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simples/múltipla · polinomial · Ridge · Lasso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00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valor exato não compensa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45352" y="178308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4F7F8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65392" y="19842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5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Classificação · 5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565392" y="253288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· SVM linear/kernel · KNN · Naïve Bayes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65392" y="3200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melhor:  KNN 0,73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4F7F8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1788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5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Séries temporais · 5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72744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suavização · ARIMA · SARIMA · Prophet · LSTM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394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random walk (não bate o baseline)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45352" y="397764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BEBCF"/>
          </a:solidFill>
          <a:ln w="12700">
            <a:solidFill>
              <a:srgbClr val="F2A10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65392" y="41788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A5A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 de conjunto · 4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565392" y="472744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· Random Forest · XGBoost · CatBoost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65392" y="5394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1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melhor global:  XGBoost 0,82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solidFill>
            <a:srgbClr val="F4F7F8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Guiados pelos meta-prompts de prompts_opencode_ml/01_supervisionada — o </a:t>
            </a:r>
            <a:pPr algn="ctr" indent="0" marL="0">
              <a:buNone/>
            </a:pPr>
            <a:r>
              <a:rPr lang="en-US" sz="135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pPr algn="ctr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o melhor para prever a direção.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 E VALIDAÇÃO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sólidos, sem exageros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8046720" cy="3529195"/>
          </a:xfrm>
          <a:prstGeom prst="roundRect">
            <a:avLst>
              <a:gd name="adj" fmla="val 1814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  <a:effectLst>
            <a:outerShdw sx="100000" sy="100000" kx="0" ky="0" algn="bl" rotWithShape="0" blurRad="114300" dist="38100" dir="5400000">
              <a:srgbClr val="7C949C">
                <a:alpha val="35000"/>
              </a:srgbClr>
            </a:outerShdw>
          </a:effectLst>
        </p:spPr>
      </p:sp>
      <p:pic>
        <p:nvPicPr>
          <p:cNvPr id="5" name="Image 0" descr="C:/Users/francisconeves/Documents/GitHub/ml-fuel-price-prediction/figuras/16_validacao_tu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7863840" cy="334631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778240" y="22860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A1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0,79 ± 0,04
</a:t>
            </a:r>
            <a:pPr indent="0" marL="0">
              <a:buNone/>
            </a:pPr>
            <a:r>
              <a:rPr lang="en-US" sz="1350" dirty="0">
                <a:solidFill>
                  <a:srgbClr val="5C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5 janelas temporais</a:t>
            </a:r>
            <a:endParaRPr lang="en-US" sz="3000" dirty="0"/>
          </a:p>
          <a:p>
            <a:pPr indent="0" marL="0">
              <a:buNone/>
            </a:pPr>
            <a:r>
              <a:rPr lang="en-US" sz="1350" dirty="0">
                <a:solidFill>
                  <a:srgbClr val="5C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(TimeSeriesSplit)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393192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afinação de hiperparâmetros não melhorou o resultado — sinal de honestidade: não “vendemos” ganhos que não existem.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792224"/>
            <a:ext cx="182880" cy="182880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43000" y="166420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Sim, prevemos a direção com utilidade.
</a:t>
            </a:r>
            <a:pPr indent="0" marL="0">
              <a:buNone/>
            </a:pPr>
            <a:r>
              <a:rPr lang="en-US" sz="1450" dirty="0">
                <a:solidFill>
                  <a:srgbClr val="AE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 a 1 dia e 69% a 7 dias — bem acima do acaso.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31520" y="2935224"/>
            <a:ext cx="182880" cy="182880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280720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exato não compensa; a variação sim.
</a:t>
            </a:r>
            <a:pPr indent="0" marL="0">
              <a:buNone/>
            </a:pPr>
            <a:r>
              <a:rPr lang="en-US" sz="1450" dirty="0">
                <a:solidFill>
                  <a:srgbClr val="AE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a variação bate o baseline em +22% (76% de sentido).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31520" y="4078224"/>
            <a:ext cx="182880" cy="182880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395020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Petróleo e impostos explicam o preço.
</a:t>
            </a:r>
            <a:pPr indent="0" marL="0">
              <a:buNone/>
            </a:pPr>
            <a:r>
              <a:rPr lang="en-US" sz="1450" dirty="0">
                <a:solidFill>
                  <a:srgbClr val="AE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enriquecimento (Brent, câmbio, ISP/IVA) foi decisivo.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 ·  Machine Learning  ·  Aprendizagem supervisionada  ·  Avaliação de modelos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E5A75">
              <a:alpha val="3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1945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383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 </a:t>
            </a:r>
            <a:pPr indent="0" marL="0">
              <a:buNone/>
            </a:pPr>
            <a:r>
              <a:rPr lang="en-US" sz="150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DGEG (preços)  ·  FRED (Brent, EUR/USD)  ·  Diário da República (ISP)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3886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Ferramentas:  </a:t>
            </a:r>
            <a:pPr indent="0" marL="0">
              <a:buNone/>
            </a:pPr>
            <a:r>
              <a:rPr lang="en-US" sz="150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scikit-learn · XGBoost · LightGBM · matplotlib · seaborn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Neves  ·  Fundamentos de Inteligência Artificial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Previsão de preços de combustíveis</dc:title>
  <dc:subject>PptxGenJS Presentation</dc:subject>
  <dc:creator>Francisco Neves</dc:creator>
  <cp:lastModifiedBy>Francisco Neves</cp:lastModifiedBy>
  <cp:revision>1</cp:revision>
  <dcterms:created xsi:type="dcterms:W3CDTF">2026-09-03T18:35:12Z</dcterms:created>
  <dcterms:modified xsi:type="dcterms:W3CDTF">2026-09-03T18:35:12Z</dcterms:modified>
</cp:coreProperties>
</file>